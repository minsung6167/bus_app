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94960" y="640080"/>
            <a:ext cx="1371600" cy="13716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6858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12121"/>
                </a:solidFill>
              </a:rPr>
              <a:t>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시외버스 예약 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DEFB"/>
                </a:solidFill>
              </a:rPr>
              <a:t>intercity bus reservation  ·  Flutter cross-platform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749039"/>
            <a:ext cx="2286000" cy="36576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12주차 중간 발표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EFB"/>
                </a:solidFill>
              </a:rPr>
              <a:t>최민성  |  신구대학교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01. 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356616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시외버스 통합 예약 앱
(Flutter 크로스플랫폼)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7" y="1371600"/>
            <a:ext cx="3566160" cy="5029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7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7" y="1874519"/>
            <a:ext cx="3566160" cy="22860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7" y="20116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한·영·중·일 4개국어
내·외국인 모두 사용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4" y="1371600"/>
            <a:ext cx="35661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4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기간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4" y="1874519"/>
            <a:ext cx="356616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4" y="20116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</a:rPr>
              <a:t>10주차 ~ 15주차
총 6주 개발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757575"/>
                </a:solidFill>
              </a:rPr>
              <a:t>공공데이터포털 시외버스 운행정보 API 연동  +  로컬 fallback 데이터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02. 해결하려는 문제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2121"/>
                </a:solidFill>
              </a:rPr>
              <a:t>기존 앱은 한국어 전용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745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E7D32"/>
                </a:solidFill>
              </a:rPr>
              <a:t>외국인 관광객 이용 불가 → 한/영/중/일 4개국어 지원으로 해결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11430000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50292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80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80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2121"/>
                </a:solidFill>
              </a:rPr>
              <a:t>터미널사별 앱이 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83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해결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83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E7D32"/>
                </a:solidFill>
              </a:rPr>
              <a:t>서울·부산 등 주요 노선을 한 화면에서 통합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11430000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문제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891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2121"/>
                </a:solidFill>
              </a:rPr>
              <a:t>모바일 UI 최적화 미흡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892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해결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92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E7D32"/>
                </a:solidFill>
              </a:rPr>
              <a:t>Flutter 위젯으로 일관된 iOS/Android 경험 제공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40680"/>
            <a:ext cx="11430000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03. 핵심 기능 (Must Have)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12주차 기준 구현 완료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6400800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기능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371600"/>
            <a:ext cx="3200400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371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상태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810512"/>
            <a:ext cx="640080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810512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12121"/>
                </a:solidFill>
              </a:rPr>
              <a:t>터미널 검색 + 버스 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810512"/>
            <a:ext cx="320040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105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D32"/>
                </a:solidFill>
              </a:rPr>
              <a:t>✅ 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249424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249424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12121"/>
                </a:solidFill>
              </a:rPr>
              <a:t>좌석 선택 (시뮬레이션)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249424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2494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D32"/>
                </a:solidFill>
              </a:rPr>
              <a:t>✅ 완료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688336"/>
            <a:ext cx="640080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688336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12121"/>
                </a:solidFill>
              </a:rPr>
              <a:t>예약 확인 / 결제 흐름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688336"/>
            <a:ext cx="320040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6883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D32"/>
                </a:solidFill>
              </a:rPr>
              <a:t>✅ 완료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127248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3127248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12121"/>
                </a:solidFill>
              </a:rPr>
              <a:t>예매 내역 조회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127248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1272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D32"/>
                </a:solidFill>
              </a:rPr>
              <a:t>✅ 완료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3566160"/>
            <a:ext cx="640080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35661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12121"/>
                </a:solidFill>
              </a:rPr>
              <a:t>4개국어 전환 (한/영/중/일)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566160"/>
            <a:ext cx="320040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5661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D32"/>
                </a:solidFill>
              </a:rPr>
              <a:t>✅ 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F00"/>
                </a:solidFill>
              </a:rPr>
              <a:t>Must Have 기능 5/5 완료  ·  Should 기능 진행 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04. 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9144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24712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565C0"/>
                </a:solidFill>
              </a:rPr>
              <a:t>Flutter 3.x  /  Dart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7575"/>
                </a:solidFill>
              </a:rPr>
              <a:t>단일 코드베이스로 iOS · Android 동시 빌드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91440" cy="82296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6032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F00"/>
                </a:solidFill>
              </a:rPr>
              <a:t>Provider + ChangeNotifier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7575"/>
                </a:solidFill>
              </a:rPr>
              <a:t>Flutter 공식 권장 상태 관리, 보일러플레이트 최소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40"/>
            <a:ext cx="9144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49040"/>
            <a:ext cx="1124712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</a:rPr>
              <a:t>SharedPreferences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7575"/>
                </a:solidFill>
              </a:rPr>
              <a:t>앱 재시작 후에도 유지되는 로컬 영구 저장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91440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93776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A1B9A"/>
                </a:solidFill>
              </a:rPr>
              <a:t>http + flutter_dotenv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76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7575"/>
                </a:solidFill>
              </a:rPr>
              <a:t>공공 API 호출 · API 키 환경변수 분리 관리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05.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Screens / Widgets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사용자 입력 · 화면 렌더링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40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57575"/>
                </a:solidFill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029200" cy="8686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CC"/>
                </a:solidFill>
              </a:rPr>
              <a:t>전역 상태 · notifyListeners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37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57575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02920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CC"/>
                </a:solidFill>
              </a:rPr>
              <a:t>외부 API 호출 · 데이터 가공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434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57575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5029200" cy="868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모델 / SharedPrefs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CC"/>
                </a:solidFill>
              </a:rPr>
              <a:t>데이터 구조 · 로컬 영속 저장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03520" cy="43891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65C0"/>
                </a:solidFill>
              </a:rPr>
              <a:t>데이터 흐름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20240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</a:rPr>
              <a:t>사용자 입력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59152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</a:rPr>
              <a:t>  → Screen (UI 이벤트)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98064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</a:rPr>
              <a:t>  → Provider (상태 변경)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36976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</a:rPr>
              <a:t>  → Service (API 호출)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75888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6F00"/>
                </a:solidFill>
              </a:rPr>
              <a:t>  ├→ 성공: 실제 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14800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6F00"/>
                </a:solidFill>
              </a:rPr>
              <a:t>  └→ 실패: mock_data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553712"/>
            <a:ext cx="4937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</a:rPr>
              <a:t>  → SharedPreferences (영속)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06. 핵심 구현 — 지역 분류 보정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7315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62828"/>
                </a:solidFill>
              </a:rPr>
              <a:t>문제:  공공 API의 cityName = "광주" → 경기도 터미널이 광주광역시로 잘못 분류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43000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EF384"/>
                </a:solidFill>
              </a:rPr>
              <a:t>// 터미널명 prefix로 실제 지역 판별
String _resolveRegion(String cityName, String terminalName) {
  if (cityName == '광주' &amp;&amp; terminalName.startsWith('경기')) {
    return '경기';
  }
  return cityName;
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754880"/>
            <a:ext cx="114300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D32"/>
                </a:solidFill>
              </a:rPr>
              <a:t>교훈:  API 데이터를 맹신하지 않고 실제 출력값을 검증 후 보정 로직 추가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07. 핵심 구현 — 좌석 시뮬레이션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6F00"/>
                </a:solidFill>
              </a:rPr>
              <a:t>배경:  실시간 좌석 API = 독점 유료 서비스 → 결정적 난수(seed) 시뮬레이션으로 대체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430000" cy="2651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0972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EF384"/>
                </a:solidFill>
              </a:rPr>
              <a:t>List&lt;SeatStatus&gt; generateSeats(String busId, String date) {
  // 같은 busId + date → 항상 동일한 좌석 배치
  final seed = int.parse(busId.replaceAll(RegExp(r'\D'), ''))
              + date.hashCode;
  final rng = Random(seed);
  return List.generate(28, (_) =&gt;
    rng.nextDouble() &lt; 0.4
      ? SeatStatus.occupied
      : SeatStatus.available);
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937760"/>
            <a:ext cx="114300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65C0"/>
                </a:solidFill>
              </a:rPr>
              <a:t>발표 포인트:  실제 API 연동 시 이 함수만 교체하면 되는 구조로 설계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08. 진행 현황 &amp; 남은 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64592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10주차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164592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기획·일정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288" y="1371600"/>
            <a:ext cx="164592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11주차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2377440"/>
            <a:ext cx="164592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8" y="24688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설계·환경 (빌드 성공)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1371600"/>
            <a:ext cx="164592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2377440"/>
            <a:ext cx="164592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24688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</a:rPr>
              <a:t>핵심 기능 완성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371600"/>
            <a:ext cx="1645920" cy="914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57575"/>
                </a:solidFill>
              </a:rPr>
              <a:t>13주차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57575"/>
                </a:solidFill>
              </a:rPr>
              <a:t>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2377440"/>
            <a:ext cx="164592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24688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</a:rPr>
              <a:t>소셜 로그인 / 테스트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1371600"/>
            <a:ext cx="1645920" cy="914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2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57575"/>
                </a:solidFill>
              </a:rPr>
              <a:t>14주차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57575"/>
                </a:solidFill>
              </a:rPr>
              <a:t>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2377440"/>
            <a:ext cx="164592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24688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</a:rPr>
              <a:t>마감·배포·문서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1371600"/>
            <a:ext cx="1645920" cy="914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57575"/>
                </a:solidFill>
              </a:rPr>
              <a:t>15주차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57575"/>
                </a:solidFill>
              </a:rPr>
              <a:t>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2377440"/>
            <a:ext cx="164592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246888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57575"/>
                </a:solidFill>
              </a:rPr>
              <a:t>최종 발표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2816" y="1188720"/>
            <a:ext cx="1828800" cy="2743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2816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◀ 현재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663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F00"/>
                </a:solidFill>
              </a:rPr>
              <a:t>Must Have 기능 100% 완료  ·  Should 기능 (소셜 로그인) 다음 주 착수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09. 위험 &amp; 대응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097280" cy="10972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기술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371600"/>
            <a:ext cx="1024128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4630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12121"/>
                </a:solidFill>
              </a:rPr>
              <a:t>카카오/네이버 SDK 연동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202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7D32"/>
                </a:solidFill>
              </a:rPr>
              <a:t>→ 기한 내 어려우면 이메일 로그인만 제출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109728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일정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834640"/>
            <a:ext cx="10241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926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12121"/>
                </a:solidFill>
              </a:rPr>
              <a:t>기말고사 2주 공백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3832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7D32"/>
                </a:solidFill>
              </a:rPr>
              <a:t>→ Must 완료 후 잠금 → 시험 후 재개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97680"/>
            <a:ext cx="1097280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17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결과물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4297680"/>
            <a:ext cx="1024128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43891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12121"/>
                </a:solidFill>
              </a:rPr>
              <a:t>발표 당일 네트워크 장애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846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7D32"/>
                </a:solidFill>
              </a:rPr>
              <a:t>→ 오프라인 fallback 데이터로 데모 진행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10. 라이브 데모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</a:rPr>
              <a:t>서울 → 부산 버스 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57575"/>
                </a:solidFill>
              </a:rPr>
              <a:t>출발·도착 터미널 선택, 날짜 지정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7" y="1371600"/>
            <a:ext cx="356616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7" y="1371600"/>
            <a:ext cx="64008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7" y="1371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7" y="1417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</a:rPr>
              <a:t>버스 목록 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7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57575"/>
                </a:solidFill>
              </a:rPr>
              <a:t>출발 시간순 정렬, 가격·잔여석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4" y="1371600"/>
            <a:ext cx="356616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4" y="1371600"/>
            <a:ext cx="64008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4" y="1371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4" y="1417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</a:rPr>
              <a:t>좌석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4" y="20116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57575"/>
                </a:solidFill>
              </a:rPr>
              <a:t>28석 배치도, 점유·빈 좌석 실시간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356616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64008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4903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947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</a:rPr>
              <a:t>예약 확인 &amp; 결제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8911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57575"/>
                </a:solidFill>
              </a:rPr>
              <a:t>승객 정보 입력, 결제 완료 화면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7" y="3749039"/>
            <a:ext cx="356616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7" y="3749039"/>
            <a:ext cx="64008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7" y="374903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1767" y="37947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65C0"/>
                </a:solidFill>
              </a:rPr>
              <a:t>언어 전환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7" y="438911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57575"/>
                </a:solidFill>
              </a:rPr>
              <a:t>한 → EN → 中 → 日 전환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393192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DEFB"/>
                </a:solidFill>
              </a:rPr>
              <a:t>GitHub:  github.com/minsung6167/Bus_app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EFB"/>
                </a:solidFill>
              </a:rPr>
              <a:t>minsung1408@g.shingu.ac.kr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